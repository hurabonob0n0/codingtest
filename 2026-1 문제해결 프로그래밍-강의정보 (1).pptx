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8"/>
  </p:notesMasterIdLst>
  <p:sldIdLst>
    <p:sldId id="258" r:id="rId2"/>
    <p:sldId id="259" r:id="rId3"/>
    <p:sldId id="260" r:id="rId4"/>
    <p:sldId id="269" r:id="rId5"/>
    <p:sldId id="267" r:id="rId6"/>
    <p:sldId id="270" r:id="rId7"/>
  </p:sldIdLst>
  <p:sldSz cx="9144000" cy="6858000" type="screen4x3"/>
  <p:notesSz cx="6796088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08" y="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4812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755AD21-19C0-49A3-8C7F-3EE70D30FEBF}" type="datetimeFigureOut">
              <a:rPr lang="ko-KR" altLang="en-US"/>
              <a:pPr>
                <a:defRPr/>
              </a:pPr>
              <a:t>2026-03-19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71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4812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8CEB46D-9B0E-47D1-8684-1DB50B81E0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99BD248-42D7-44D8-991C-BF0E4233C8AD}" type="slidenum">
              <a:rPr lang="ko-KR" altLang="en-US"/>
              <a:pPr>
                <a:spcBef>
                  <a:spcPct val="0"/>
                </a:spcBef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46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13C2F71-BB01-48DF-A472-934FC256D0DC}" type="slidenum">
              <a:rPr lang="ko-KR" altLang="en-US"/>
              <a:pPr>
                <a:spcBef>
                  <a:spcPct val="0"/>
                </a:spcBef>
              </a:pPr>
              <a:t>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1A5C0-6ABE-3731-168B-0BBAB8ADE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이미지 개체 틀 1">
            <a:extLst>
              <a:ext uri="{FF2B5EF4-FFF2-40B4-BE49-F238E27FC236}">
                <a16:creationId xmlns:a16="http://schemas.microsoft.com/office/drawing/2014/main" id="{5AA41DEC-803E-49F5-5C96-732C0C23DEC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슬라이드 노트 개체 틀 2">
            <a:extLst>
              <a:ext uri="{FF2B5EF4-FFF2-40B4-BE49-F238E27FC236}">
                <a16:creationId xmlns:a16="http://schemas.microsoft.com/office/drawing/2014/main" id="{22FA03DC-6979-CD3A-A0D4-DBC91CF8DED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460" name="슬라이드 번호 개체 틀 3">
            <a:extLst>
              <a:ext uri="{FF2B5EF4-FFF2-40B4-BE49-F238E27FC236}">
                <a16:creationId xmlns:a16="http://schemas.microsoft.com/office/drawing/2014/main" id="{3643C742-AA3E-1DDA-265D-2210AC278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13C2F71-BB01-48DF-A472-934FC256D0DC}" type="slidenum">
              <a:rPr lang="ko-KR" altLang="en-US"/>
              <a:pPr>
                <a:spcBef>
                  <a:spcPct val="0"/>
                </a:spcBef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049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150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1E221D0-BDD5-42E9-8922-5A46D3DB8D7A}" type="slidenum">
              <a:rPr lang="ko-KR" altLang="en-US"/>
              <a:pPr>
                <a:spcBef>
                  <a:spcPct val="0"/>
                </a:spcBef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10409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81344-7CF3-8A20-16C0-0E957F5BE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1CF16664-D96F-A1A9-9B1D-3F4760C366B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7D360BD9-9BD0-D08B-9E3F-83363076987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258BA9D5-43D6-F515-5F8C-F14B41A6C2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1E221D0-BDD5-42E9-8922-5A46D3DB8D7A}" type="slidenum">
              <a:rPr lang="ko-KR" altLang="en-US"/>
              <a:pPr>
                <a:spcBef>
                  <a:spcPct val="0"/>
                </a:spcBef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6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14313" y="6356350"/>
            <a:ext cx="26431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9CDB7A-47E2-4059-8EF4-A0640D1BC94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20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3733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78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6C9443-308F-41EB-9403-36E994EE3C1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93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54F6A4-0517-45C2-862F-B475182F43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41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날짜 개체 틀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9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66478B-8FBF-4F39-8AAE-C744841EBA9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3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5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7DB5AE-6182-458A-9442-7D0E5621EC3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날짜 개체 틀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4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F7FABC-72A3-4036-B860-C8EA1438AE6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7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92AEAB-351F-4F89-A116-7A44E83E55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08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EE7A7B-3993-47B6-A1BC-0275495E6D5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2FCFE9-07D1-4516-8BF2-C49BDADA48E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9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30A18C-D925-420F-814E-C2D3F93C52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37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14313" y="6356350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749D700-1C6B-4D65-B91E-BEEB48FB19C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ko-KR" dirty="0"/>
              <a:t>2026-1 </a:t>
            </a:r>
            <a:r>
              <a:rPr lang="ko-KR" altLang="en-US" dirty="0"/>
              <a:t>문제해결 프로그래밍</a:t>
            </a:r>
            <a:endParaRPr lang="en-US" altLang="ko-KR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ko-KR" altLang="en-US" dirty="0">
                <a:solidFill>
                  <a:schemeClr val="tx1"/>
                </a:solidFill>
              </a:rPr>
              <a:t>한국공학대학교 게임공학과</a:t>
            </a:r>
          </a:p>
          <a:p>
            <a:pPr eaLnBrk="1" hangingPunct="1"/>
            <a:r>
              <a:rPr lang="en-US" altLang="ko-KR" dirty="0">
                <a:solidFill>
                  <a:schemeClr val="tx1"/>
                </a:solidFill>
              </a:rPr>
              <a:t>2026</a:t>
            </a:r>
            <a:r>
              <a:rPr lang="ko-KR" altLang="en-US" dirty="0">
                <a:solidFill>
                  <a:schemeClr val="tx1"/>
                </a:solidFill>
              </a:rPr>
              <a:t>학년도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학기</a:t>
            </a:r>
          </a:p>
          <a:p>
            <a:pPr eaLnBrk="1" hangingPunct="1"/>
            <a:r>
              <a:rPr lang="ko-KR" altLang="en-US" dirty="0">
                <a:solidFill>
                  <a:schemeClr val="tx1"/>
                </a:solidFill>
              </a:rPr>
              <a:t>담당교수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김영식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/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/>
              <a:t>강좌 정보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908720"/>
            <a:ext cx="8686800" cy="552693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ko-KR" altLang="en-US" dirty="0"/>
              <a:t>강좌구분 </a:t>
            </a:r>
            <a:r>
              <a:rPr lang="en-US" altLang="ko-KR" dirty="0"/>
              <a:t>: </a:t>
            </a:r>
            <a:r>
              <a:rPr lang="ko-KR" altLang="en-US" dirty="0"/>
              <a:t>전공선택</a:t>
            </a:r>
          </a:p>
          <a:p>
            <a:pPr eaLnBrk="1" hangingPunct="1">
              <a:lnSpc>
                <a:spcPct val="80000"/>
              </a:lnSpc>
            </a:pPr>
            <a:r>
              <a:rPr lang="ko-KR" altLang="en-US" dirty="0"/>
              <a:t>주당시간 </a:t>
            </a:r>
            <a:r>
              <a:rPr lang="en-US" altLang="ko-KR" dirty="0"/>
              <a:t>: </a:t>
            </a:r>
            <a:r>
              <a:rPr lang="ko-KR" altLang="en-US" dirty="0"/>
              <a:t>이론</a:t>
            </a:r>
            <a:r>
              <a:rPr lang="en-US" altLang="ko-KR" dirty="0"/>
              <a:t>2</a:t>
            </a:r>
            <a:r>
              <a:rPr lang="ko-KR" altLang="en-US" dirty="0"/>
              <a:t>시간 실습</a:t>
            </a:r>
            <a:r>
              <a:rPr lang="en-US" altLang="ko-KR" dirty="0"/>
              <a:t>2</a:t>
            </a:r>
            <a:r>
              <a:rPr lang="ko-KR" altLang="en-US" dirty="0"/>
              <a:t>시간</a:t>
            </a:r>
            <a:endParaRPr lang="en-US" altLang="ko-KR" dirty="0"/>
          </a:p>
          <a:p>
            <a:pPr lvl="1" eaLnBrk="1" hangingPunct="1"/>
            <a:r>
              <a:rPr lang="en-US" altLang="ko-KR" dirty="0"/>
              <a:t>01</a:t>
            </a:r>
            <a:r>
              <a:rPr lang="ko-KR" altLang="en-US" dirty="0"/>
              <a:t>분반</a:t>
            </a:r>
            <a:r>
              <a:rPr lang="en-US" altLang="ko-KR" dirty="0"/>
              <a:t> </a:t>
            </a:r>
            <a:r>
              <a:rPr lang="ko-KR" altLang="en-US" dirty="0" err="1"/>
              <a:t>월목</a:t>
            </a:r>
            <a:r>
              <a:rPr lang="en-US" altLang="ko-KR" dirty="0"/>
              <a:t>: </a:t>
            </a:r>
            <a:r>
              <a:rPr lang="ko-KR" altLang="en-US" dirty="0"/>
              <a:t>월</a:t>
            </a:r>
            <a:r>
              <a:rPr lang="en-US" altLang="ko-KR" dirty="0"/>
              <a:t>1,2(09:30~11:20),</a:t>
            </a:r>
            <a:r>
              <a:rPr lang="ko-KR" altLang="en-US" dirty="0"/>
              <a:t>목</a:t>
            </a:r>
            <a:r>
              <a:rPr lang="en-US" altLang="ko-KR" dirty="0"/>
              <a:t>1,2(09:30~11:20)@C221</a:t>
            </a:r>
          </a:p>
          <a:p>
            <a:pPr lvl="1" eaLnBrk="1" hangingPunct="1"/>
            <a:r>
              <a:rPr lang="en-US" altLang="ko-KR" dirty="0"/>
              <a:t>02</a:t>
            </a:r>
            <a:r>
              <a:rPr lang="ko-KR" altLang="en-US" dirty="0"/>
              <a:t>분반</a:t>
            </a:r>
            <a:r>
              <a:rPr lang="en-US" altLang="ko-KR" dirty="0"/>
              <a:t> </a:t>
            </a:r>
            <a:r>
              <a:rPr lang="ko-KR" altLang="en-US" dirty="0"/>
              <a:t>월수</a:t>
            </a:r>
            <a:r>
              <a:rPr lang="en-US" altLang="ko-KR" dirty="0"/>
              <a:t>: </a:t>
            </a:r>
            <a:r>
              <a:rPr lang="ko-KR" altLang="en-US" dirty="0"/>
              <a:t>월</a:t>
            </a:r>
            <a:r>
              <a:rPr lang="en-US" altLang="ko-KR" dirty="0"/>
              <a:t>3,4(11:30~13:20),</a:t>
            </a:r>
            <a:r>
              <a:rPr lang="ko-KR" altLang="en-US" dirty="0"/>
              <a:t>수</a:t>
            </a:r>
            <a:r>
              <a:rPr lang="en-US" altLang="ko-KR" dirty="0"/>
              <a:t>3,4(11:30~13:20)@C221</a:t>
            </a:r>
          </a:p>
          <a:p>
            <a:pPr eaLnBrk="1" hangingPunct="1">
              <a:lnSpc>
                <a:spcPct val="80000"/>
              </a:lnSpc>
            </a:pPr>
            <a:r>
              <a:rPr lang="ko-KR" altLang="en-US" dirty="0"/>
              <a:t>교수 정보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dirty="0"/>
              <a:t>연구실</a:t>
            </a:r>
            <a:r>
              <a:rPr lang="en-US" altLang="ko-KR" dirty="0"/>
              <a:t>: E</a:t>
            </a:r>
            <a:r>
              <a:rPr lang="ko-KR" altLang="en-US" dirty="0"/>
              <a:t>공학관 </a:t>
            </a:r>
            <a:r>
              <a:rPr lang="en-US" altLang="ko-KR" dirty="0"/>
              <a:t>209</a:t>
            </a:r>
            <a:r>
              <a:rPr lang="ko-KR" altLang="en-US" dirty="0"/>
              <a:t>호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dirty="0"/>
              <a:t>전화번호</a:t>
            </a:r>
            <a:r>
              <a:rPr lang="en-US" altLang="ko-KR" dirty="0"/>
              <a:t>: </a:t>
            </a:r>
            <a:r>
              <a:rPr lang="ko-KR" altLang="en-US" dirty="0"/>
              <a:t>교내 </a:t>
            </a:r>
            <a:r>
              <a:rPr lang="en-US" altLang="ko-KR" dirty="0"/>
              <a:t>0560 (031-8041-0560)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dirty="0"/>
              <a:t>전자우편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rgbClr val="0000FF"/>
                </a:solidFill>
              </a:rPr>
              <a:t>kys@tukorea.ac.kr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dirty="0"/>
              <a:t>강의홈페이지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rgbClr val="0000FF"/>
                </a:solidFill>
              </a:rPr>
              <a:t>http://eclass.kpu.ac.kr/</a:t>
            </a:r>
          </a:p>
          <a:p>
            <a:pPr eaLnBrk="1" hangingPunct="1">
              <a:lnSpc>
                <a:spcPct val="80000"/>
              </a:lnSpc>
            </a:pPr>
            <a:r>
              <a:rPr lang="ko-KR" altLang="en-US" dirty="0"/>
              <a:t>교재</a:t>
            </a:r>
          </a:p>
          <a:p>
            <a:pPr lvl="1" eaLnBrk="1" hangingPunct="1"/>
            <a:r>
              <a:rPr lang="ko-KR" altLang="en-US" sz="1800" dirty="0" err="1"/>
              <a:t>주교재</a:t>
            </a:r>
            <a:r>
              <a:rPr lang="ko-KR" altLang="en-US" sz="1800" dirty="0"/>
              <a:t> </a:t>
            </a:r>
            <a:endParaRPr lang="en-US" altLang="ko-KR" sz="1800" dirty="0"/>
          </a:p>
          <a:p>
            <a:pPr lvl="2" eaLnBrk="1" hangingPunct="1"/>
            <a:r>
              <a:rPr lang="en-US" altLang="ko-KR" sz="1600" dirty="0"/>
              <a:t>“</a:t>
            </a:r>
            <a:r>
              <a:rPr lang="ko-KR" altLang="en-US" sz="1600" b="1" i="0" dirty="0">
                <a:solidFill>
                  <a:srgbClr val="1F2328"/>
                </a:solidFill>
                <a:effectLst/>
                <a:latin typeface="-apple-system"/>
              </a:rPr>
              <a:t>이것이 취업을 위한 코딩 테스트다 </a:t>
            </a:r>
            <a:r>
              <a:rPr lang="en-US" altLang="ko-KR" sz="1600" b="1" i="0" dirty="0">
                <a:solidFill>
                  <a:srgbClr val="1F2328"/>
                </a:solidFill>
                <a:effectLst/>
                <a:latin typeface="-apple-system"/>
              </a:rPr>
              <a:t>with Python”,</a:t>
            </a:r>
            <a:r>
              <a:rPr lang="ko-KR" altLang="en-US" sz="1600" b="0" i="0" dirty="0">
                <a:solidFill>
                  <a:srgbClr val="1F2328"/>
                </a:solidFill>
                <a:effectLst/>
                <a:latin typeface="-apple-system"/>
              </a:rPr>
              <a:t> </a:t>
            </a:r>
            <a:r>
              <a:rPr lang="ko-KR" altLang="en-US" sz="1600" b="0" i="0" dirty="0" err="1">
                <a:solidFill>
                  <a:srgbClr val="1F2328"/>
                </a:solidFill>
                <a:effectLst/>
                <a:latin typeface="-apple-system"/>
              </a:rPr>
              <a:t>나동빈</a:t>
            </a:r>
            <a:r>
              <a:rPr lang="ko-KR" altLang="en-US" sz="1600" b="0" i="0" dirty="0">
                <a:solidFill>
                  <a:srgbClr val="1F2328"/>
                </a:solidFill>
                <a:effectLst/>
                <a:latin typeface="-apple-system"/>
              </a:rPr>
              <a:t> 저</a:t>
            </a:r>
            <a:r>
              <a:rPr lang="en-US" altLang="ko-KR" sz="1600" b="0" i="0" dirty="0">
                <a:solidFill>
                  <a:srgbClr val="1F2328"/>
                </a:solidFill>
                <a:effectLst/>
                <a:latin typeface="-apple-system"/>
              </a:rPr>
              <a:t>, </a:t>
            </a:r>
            <a:r>
              <a:rPr lang="ko-KR" altLang="en-US" sz="1600" b="0" i="0" dirty="0" err="1">
                <a:solidFill>
                  <a:srgbClr val="1F2328"/>
                </a:solidFill>
                <a:effectLst/>
                <a:latin typeface="-apple-system"/>
              </a:rPr>
              <a:t>한빛미디어</a:t>
            </a:r>
            <a:endParaRPr lang="en-US" altLang="ko-KR" sz="1800" dirty="0"/>
          </a:p>
          <a:p>
            <a:pPr lvl="2" eaLnBrk="1" hangingPunct="1"/>
            <a:r>
              <a:rPr lang="ko-KR" altLang="en-US" sz="1600" dirty="0" err="1">
                <a:solidFill>
                  <a:srgbClr val="0000FF"/>
                </a:solidFill>
              </a:rPr>
              <a:t>깃허브</a:t>
            </a:r>
            <a:r>
              <a:rPr lang="ko-KR" altLang="en-US" sz="1600" dirty="0">
                <a:solidFill>
                  <a:srgbClr val="0000FF"/>
                </a:solidFill>
              </a:rPr>
              <a:t> </a:t>
            </a:r>
            <a:r>
              <a:rPr lang="en-US" altLang="ko-KR" sz="1600" dirty="0">
                <a:solidFill>
                  <a:srgbClr val="0000FF"/>
                </a:solidFill>
              </a:rPr>
              <a:t>https://github.com/ndb796/python-for-coding-test</a:t>
            </a:r>
          </a:p>
          <a:p>
            <a:pPr lvl="1" eaLnBrk="1" hangingPunct="1"/>
            <a:r>
              <a:rPr lang="ko-KR" altLang="en-US" sz="1800" dirty="0"/>
              <a:t>온라인저지</a:t>
            </a:r>
            <a:endParaRPr lang="en-US" altLang="ko-KR" sz="1800" dirty="0"/>
          </a:p>
          <a:p>
            <a:pPr lvl="2" eaLnBrk="1" hangingPunct="1"/>
            <a:r>
              <a:rPr lang="en-US" altLang="ko-KR" sz="1600" dirty="0" err="1"/>
              <a:t>TUKorea</a:t>
            </a:r>
            <a:r>
              <a:rPr lang="en-US" altLang="ko-KR" sz="1600" dirty="0"/>
              <a:t> </a:t>
            </a:r>
            <a:r>
              <a:rPr lang="ko-KR" altLang="en-US" sz="1600" dirty="0"/>
              <a:t>온라인저지 </a:t>
            </a:r>
            <a:r>
              <a:rPr lang="en-US" altLang="ko-KR" sz="1600" dirty="0">
                <a:solidFill>
                  <a:srgbClr val="0000FF"/>
                </a:solidFill>
              </a:rPr>
              <a:t>http://210.93.60.51</a:t>
            </a:r>
          </a:p>
          <a:p>
            <a:pPr lvl="2" eaLnBrk="1" hangingPunct="1"/>
            <a:r>
              <a:rPr lang="ko-KR" altLang="en-US" sz="1600" dirty="0" err="1"/>
              <a:t>백준온라인저지</a:t>
            </a:r>
            <a:r>
              <a:rPr lang="ko-KR" altLang="en-US" sz="1600" dirty="0"/>
              <a:t> </a:t>
            </a:r>
            <a:r>
              <a:rPr lang="en-US" altLang="ko-KR" sz="1600" dirty="0">
                <a:solidFill>
                  <a:srgbClr val="0000FF"/>
                </a:solidFill>
              </a:rPr>
              <a:t>https://www.acmicpc.net/</a:t>
            </a:r>
          </a:p>
          <a:p>
            <a:pPr lvl="2" eaLnBrk="1" hangingPunct="1"/>
            <a:r>
              <a:rPr lang="ko-KR" altLang="en-US" sz="1600" dirty="0" err="1"/>
              <a:t>프로그래머스</a:t>
            </a:r>
            <a:r>
              <a:rPr lang="ko-KR" altLang="en-US" sz="1600" dirty="0"/>
              <a:t> </a:t>
            </a:r>
            <a:r>
              <a:rPr lang="en-US" altLang="ko-KR" sz="1600" dirty="0">
                <a:solidFill>
                  <a:srgbClr val="0000FF"/>
                </a:solidFill>
              </a:rPr>
              <a:t>https://programmers.co.kr/</a:t>
            </a:r>
          </a:p>
          <a:p>
            <a:pPr lvl="2" eaLnBrk="1" hangingPunct="1"/>
            <a:r>
              <a:rPr lang="ko-KR" altLang="en-US" sz="1600" dirty="0" err="1">
                <a:solidFill>
                  <a:srgbClr val="0000FF"/>
                </a:solidFill>
              </a:rPr>
              <a:t>프로그래머스</a:t>
            </a:r>
            <a:r>
              <a:rPr lang="ko-KR" altLang="en-US" sz="1600" dirty="0">
                <a:solidFill>
                  <a:srgbClr val="0000FF"/>
                </a:solidFill>
              </a:rPr>
              <a:t> 캠퍼스</a:t>
            </a:r>
            <a:r>
              <a:rPr lang="en-US" altLang="ko-KR" sz="1600" dirty="0">
                <a:solidFill>
                  <a:srgbClr val="0000FF"/>
                </a:solidFill>
              </a:rPr>
              <a:t>(LMS)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번호 개체 틀 4"/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3571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599B1FA5-166B-4E4F-8367-BEF0FA795E56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8435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/>
              <a:t>강좌 정보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85875"/>
            <a:ext cx="8507413" cy="4840288"/>
          </a:xfrm>
        </p:spPr>
        <p:txBody>
          <a:bodyPr/>
          <a:lstStyle/>
          <a:p>
            <a:pPr eaLnBrk="1" hangingPunct="1"/>
            <a:r>
              <a:rPr lang="ko-KR" altLang="en-US" dirty="0"/>
              <a:t>강의 평가 방법</a:t>
            </a:r>
          </a:p>
          <a:p>
            <a:pPr lvl="1" eaLnBrk="1" hangingPunct="1"/>
            <a:r>
              <a:rPr lang="ko-KR" altLang="en-US" dirty="0"/>
              <a:t>출석</a:t>
            </a:r>
            <a:r>
              <a:rPr lang="en-US" altLang="ko-KR" dirty="0"/>
              <a:t>: 10%, </a:t>
            </a:r>
            <a:r>
              <a:rPr lang="ko-KR" altLang="en-US" dirty="0"/>
              <a:t>과제 </a:t>
            </a:r>
            <a:r>
              <a:rPr lang="en-US" altLang="ko-KR" dirty="0"/>
              <a:t>15%, </a:t>
            </a:r>
            <a:r>
              <a:rPr lang="en-US" altLang="ko-KR" dirty="0" err="1"/>
              <a:t>TUKorea</a:t>
            </a:r>
            <a:r>
              <a:rPr lang="en-US" altLang="ko-KR" dirty="0"/>
              <a:t> </a:t>
            </a:r>
            <a:r>
              <a:rPr lang="ko-KR" altLang="en-US" dirty="0"/>
              <a:t>온라인저지 시험</a:t>
            </a:r>
            <a:r>
              <a:rPr lang="en-US" altLang="ko-KR" dirty="0"/>
              <a:t>3</a:t>
            </a:r>
            <a:r>
              <a:rPr lang="ko-KR" altLang="en-US" dirty="0"/>
              <a:t>번</a:t>
            </a:r>
            <a:r>
              <a:rPr lang="en-US" altLang="ko-KR" dirty="0"/>
              <a:t> 60%</a:t>
            </a:r>
          </a:p>
          <a:p>
            <a:pPr lvl="1" eaLnBrk="1" hangingPunct="1"/>
            <a:r>
              <a:rPr lang="ko-KR" altLang="en-US" dirty="0" err="1"/>
              <a:t>프로그래머스</a:t>
            </a:r>
            <a:r>
              <a:rPr lang="ko-KR" altLang="en-US" dirty="0"/>
              <a:t> </a:t>
            </a:r>
            <a:r>
              <a:rPr lang="en-US" altLang="ko-KR" dirty="0"/>
              <a:t>PCCP </a:t>
            </a:r>
            <a:r>
              <a:rPr lang="ko-KR" altLang="en-US" dirty="0"/>
              <a:t>테스트 </a:t>
            </a:r>
            <a:r>
              <a:rPr lang="en-US" altLang="ko-KR" dirty="0"/>
              <a:t>15%</a:t>
            </a:r>
          </a:p>
          <a:p>
            <a:pPr lvl="1" eaLnBrk="1" hangingPunct="1"/>
            <a:r>
              <a:rPr lang="ko-KR" altLang="en-US" dirty="0"/>
              <a:t>강의 정보</a:t>
            </a:r>
            <a:r>
              <a:rPr lang="en-US" altLang="ko-KR" dirty="0"/>
              <a:t>: </a:t>
            </a:r>
            <a:r>
              <a:rPr lang="ko-KR" altLang="en-US" dirty="0"/>
              <a:t>강좌 홈페이지 게시판이용 </a:t>
            </a:r>
            <a:r>
              <a:rPr lang="en-US" altLang="ko-KR" dirty="0"/>
              <a:t>(http://eclass.kpu.ac.kr)</a:t>
            </a:r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8B4DB-1193-84C6-81FE-1E33F7214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번호 개체 틀 4">
            <a:extLst>
              <a:ext uri="{FF2B5EF4-FFF2-40B4-BE49-F238E27FC236}">
                <a16:creationId xmlns:a16="http://schemas.microsoft.com/office/drawing/2014/main" id="{26848A6D-0ADF-6BA8-6581-5193E74B0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3571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599B1FA5-166B-4E4F-8367-BEF0FA795E56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FAD6638A-1519-D0F9-0F99-15C0660D6E6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dirty="0" err="1"/>
              <a:t>이코테</a:t>
            </a:r>
            <a:r>
              <a:rPr lang="ko-KR" altLang="en-US" dirty="0"/>
              <a:t> 목차 및 유튜브 강의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D4E93E06-4520-96CD-4431-62FE27066B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760"/>
            <a:ext cx="8507413" cy="5314602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1. 코딩 테스트 및 파이썬 문법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 </a:t>
            </a:r>
            <a:r>
              <a:rPr lang="ko-KR" altLang="ko-KR" sz="2000" b="1" dirty="0">
                <a:solidFill>
                  <a:srgbClr val="0099FF"/>
                </a:solidFill>
                <a:latin typeface="Arial" panose="020B0604020202020204" pitchFamily="34" charset="0"/>
                <a:ea typeface="Helvetica Neue"/>
              </a:rPr>
              <a:t>https://youtu.be/m-9pAwq1o3w</a:t>
            </a:r>
            <a:endParaRPr kumimoji="0" lang="ko-KR" altLang="ko-KR" sz="2000" b="1" i="0" u="none" strike="noStrike" cap="none" normalizeH="0" baseline="0" dirty="0">
              <a:ln>
                <a:noFill/>
              </a:ln>
              <a:solidFill>
                <a:srgbClr val="495060"/>
              </a:solidFill>
              <a:effectLst/>
              <a:latin typeface="Arial" panose="020B0604020202020204" pitchFamily="34" charset="0"/>
              <a:ea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2. 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그리디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 &amp; 구현</a:t>
            </a:r>
            <a:r>
              <a:rPr lang="en-US" altLang="ko-KR" sz="2000" b="1" dirty="0">
                <a:solidFill>
                  <a:srgbClr val="111111"/>
                </a:solidFill>
                <a:latin typeface="Arial" panose="020B0604020202020204" pitchFamily="34" charset="0"/>
                <a:ea typeface="Helvetica Neue"/>
              </a:rPr>
              <a:t> </a:t>
            </a:r>
            <a:r>
              <a:rPr lang="ko-KR" altLang="ko-KR" sz="2000" b="1" dirty="0">
                <a:solidFill>
                  <a:srgbClr val="0099FF"/>
                </a:solidFill>
                <a:latin typeface="Arial" panose="020B0604020202020204" pitchFamily="34" charset="0"/>
                <a:ea typeface="Helvetica Neue"/>
              </a:rPr>
              <a:t>https://youtu.be/2zjoKjt97vQ</a:t>
            </a:r>
            <a:endParaRPr kumimoji="0" lang="ko-KR" altLang="ko-KR" sz="2000" b="1" i="0" u="none" strike="noStrike" cap="none" normalizeH="0" baseline="0" dirty="0">
              <a:ln>
                <a:noFill/>
              </a:ln>
              <a:solidFill>
                <a:srgbClr val="495060"/>
              </a:solidFill>
              <a:effectLst/>
              <a:latin typeface="Arial" panose="020B0604020202020204" pitchFamily="34" charset="0"/>
              <a:ea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3. DFS &amp; BFS</a:t>
            </a:r>
            <a:r>
              <a:rPr lang="en-US" altLang="ko-KR" sz="2000" b="1" dirty="0">
                <a:solidFill>
                  <a:srgbClr val="111111"/>
                </a:solidFill>
                <a:latin typeface="Arial" panose="020B0604020202020204" pitchFamily="34" charset="0"/>
                <a:ea typeface="Helvetica Neue"/>
              </a:rPr>
              <a:t> </a:t>
            </a:r>
            <a:r>
              <a:rPr lang="ko-KR" altLang="ko-KR" sz="2000" b="1" dirty="0">
                <a:solidFill>
                  <a:srgbClr val="0099FF"/>
                </a:solidFill>
                <a:latin typeface="Arial" panose="020B0604020202020204" pitchFamily="34" charset="0"/>
                <a:ea typeface="Helvetica Neue"/>
              </a:rPr>
              <a:t>https://youtu.be/7C9RgOcvkvo</a:t>
            </a:r>
            <a:endParaRPr kumimoji="0" lang="ko-KR" altLang="ko-KR" sz="2000" b="1" i="0" u="none" strike="noStrike" cap="none" normalizeH="0" baseline="0" dirty="0">
              <a:ln>
                <a:noFill/>
              </a:ln>
              <a:solidFill>
                <a:srgbClr val="495060"/>
              </a:solidFill>
              <a:effectLst/>
              <a:latin typeface="Arial" panose="020B0604020202020204" pitchFamily="34" charset="0"/>
              <a:ea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4. 정렬 알고리즘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 </a:t>
            </a:r>
            <a:r>
              <a:rPr lang="ko-KR" altLang="ko-KR" sz="2000" b="1" dirty="0">
                <a:solidFill>
                  <a:srgbClr val="0099FF"/>
                </a:solidFill>
                <a:latin typeface="Arial" panose="020B0604020202020204" pitchFamily="34" charset="0"/>
                <a:ea typeface="Helvetica Neue"/>
              </a:rPr>
              <a:t>https://youtu.be/KGyK-pNvWos</a:t>
            </a:r>
            <a:endParaRPr lang="en-US" altLang="ko-KR" sz="2000" b="1" dirty="0">
              <a:solidFill>
                <a:srgbClr val="111111"/>
              </a:solidFill>
              <a:latin typeface="Arial" panose="020B0604020202020204" pitchFamily="34" charset="0"/>
              <a:ea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5. 이진 탐색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 </a:t>
            </a:r>
            <a:r>
              <a:rPr lang="ko-KR" altLang="ko-KR" sz="2000" b="1" dirty="0">
                <a:solidFill>
                  <a:srgbClr val="0099FF"/>
                </a:solidFill>
                <a:latin typeface="Arial" panose="020B0604020202020204" pitchFamily="34" charset="0"/>
                <a:ea typeface="Helvetica Neue"/>
              </a:rPr>
              <a:t>https://youtu.be/94RC-DsGMLo</a:t>
            </a:r>
            <a:endParaRPr kumimoji="0" lang="ko-KR" altLang="ko-KR" sz="2000" b="1" i="0" u="none" strike="noStrike" cap="none" normalizeH="0" baseline="0" dirty="0">
              <a:ln>
                <a:noFill/>
              </a:ln>
              <a:solidFill>
                <a:srgbClr val="111111"/>
              </a:solidFill>
              <a:effectLst/>
              <a:latin typeface="Arial" panose="020B0604020202020204" pitchFamily="34" charset="0"/>
              <a:ea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6. 다이나믹 프로그래밍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 </a:t>
            </a:r>
            <a:r>
              <a:rPr lang="ko-KR" altLang="ko-KR" sz="2000" b="1" dirty="0">
                <a:solidFill>
                  <a:srgbClr val="0099FF"/>
                </a:solidFill>
                <a:latin typeface="Arial" panose="020B0604020202020204" pitchFamily="34" charset="0"/>
                <a:ea typeface="Helvetica Neue"/>
              </a:rPr>
              <a:t>https://youtu.be/5Lu34WIx2Us</a:t>
            </a:r>
            <a:endParaRPr kumimoji="0" lang="ko-KR" altLang="ko-KR" sz="2000" b="1" i="0" u="none" strike="noStrike" cap="none" normalizeH="0" baseline="0" dirty="0">
              <a:ln>
                <a:noFill/>
              </a:ln>
              <a:solidFill>
                <a:srgbClr val="111111"/>
              </a:solidFill>
              <a:effectLst/>
              <a:latin typeface="Arial" panose="020B0604020202020204" pitchFamily="34" charset="0"/>
              <a:ea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7. 최단 경로 알고리즘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 </a:t>
            </a:r>
            <a:r>
              <a:rPr lang="ko-KR" altLang="ko-KR" sz="2000" b="1" dirty="0">
                <a:solidFill>
                  <a:srgbClr val="0099FF"/>
                </a:solidFill>
                <a:latin typeface="Arial" panose="020B0604020202020204" pitchFamily="34" charset="0"/>
                <a:ea typeface="Helvetica Neue"/>
              </a:rPr>
              <a:t>https://youtu.be/acqm9mM1P6o</a:t>
            </a:r>
            <a:endParaRPr kumimoji="0" lang="ko-KR" altLang="ko-KR" sz="2000" b="1" i="0" u="none" strike="noStrike" cap="none" normalizeH="0" baseline="0" dirty="0">
              <a:ln>
                <a:noFill/>
              </a:ln>
              <a:solidFill>
                <a:srgbClr val="111111"/>
              </a:solidFill>
              <a:effectLst/>
              <a:latin typeface="Arial" panose="020B0604020202020204" pitchFamily="34" charset="0"/>
              <a:ea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8. 기타 그래프 이론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 </a:t>
            </a:r>
            <a:r>
              <a:rPr lang="ko-KR" altLang="ko-KR" sz="2000" b="1" dirty="0">
                <a:solidFill>
                  <a:srgbClr val="0099FF"/>
                </a:solidFill>
                <a:latin typeface="Arial" panose="020B0604020202020204" pitchFamily="34" charset="0"/>
                <a:ea typeface="Helvetica Neue"/>
              </a:rPr>
              <a:t>https://youtu.be/aOhhNFTIeFI</a:t>
            </a:r>
            <a:endParaRPr kumimoji="0" lang="ko-KR" altLang="ko-KR" sz="2000" b="1" i="0" u="none" strike="noStrike" cap="none" normalizeH="0" baseline="0" dirty="0">
              <a:ln>
                <a:noFill/>
              </a:ln>
              <a:solidFill>
                <a:srgbClr val="111111"/>
              </a:solidFill>
              <a:effectLst/>
              <a:latin typeface="Arial" panose="020B0604020202020204" pitchFamily="34" charset="0"/>
              <a:ea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9. 기타 알고리즘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 </a:t>
            </a:r>
            <a:r>
              <a:rPr lang="ko-KR" altLang="ko-KR" sz="2000" b="1" dirty="0">
                <a:solidFill>
                  <a:srgbClr val="0099FF"/>
                </a:solidFill>
                <a:latin typeface="Arial" panose="020B0604020202020204" pitchFamily="34" charset="0"/>
                <a:ea typeface="Helvetica Neue"/>
              </a:rPr>
              <a:t>https://youtu.be/cswJ1h-How0</a:t>
            </a:r>
            <a:endParaRPr kumimoji="0" lang="ko-KR" altLang="ko-KR" sz="2000" b="1" i="0" u="none" strike="noStrike" cap="none" normalizeH="0" baseline="0" dirty="0">
              <a:ln>
                <a:noFill/>
              </a:ln>
              <a:solidFill>
                <a:srgbClr val="111111"/>
              </a:solidFill>
              <a:effectLst/>
              <a:latin typeface="Arial" panose="020B0604020202020204" pitchFamily="34" charset="0"/>
              <a:ea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10. 개발형 코딩 테스트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 </a:t>
            </a:r>
            <a:r>
              <a:rPr lang="ko-KR" altLang="ko-KR" sz="2000" b="1" dirty="0">
                <a:solidFill>
                  <a:srgbClr val="0099FF"/>
                </a:solidFill>
                <a:latin typeface="Arial" panose="020B0604020202020204" pitchFamily="34" charset="0"/>
                <a:ea typeface="Helvetica Neue"/>
              </a:rPr>
              <a:t>https://youtu.be/d8KPN79UAKA</a:t>
            </a:r>
            <a:endParaRPr kumimoji="0" lang="ko-KR" altLang="ko-KR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6193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번호 개체 틀 4"/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3571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A58B39F7-D619-4B87-B75C-AB36FB1CA72B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5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20483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dirty="0"/>
              <a:t>01</a:t>
            </a:r>
            <a:r>
              <a:rPr lang="ko-KR" altLang="en-US" dirty="0"/>
              <a:t>분반 </a:t>
            </a:r>
            <a:r>
              <a:rPr lang="ko-KR" altLang="en-US" dirty="0" err="1"/>
              <a:t>월목</a:t>
            </a:r>
            <a:r>
              <a:rPr lang="en-US" altLang="ko-KR" dirty="0"/>
              <a:t> </a:t>
            </a:r>
            <a:r>
              <a:rPr lang="ko-KR" altLang="en-US" dirty="0"/>
              <a:t>강의 계획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984740"/>
              </p:ext>
            </p:extLst>
          </p:nvPr>
        </p:nvGraphicFramePr>
        <p:xfrm>
          <a:off x="179512" y="1143000"/>
          <a:ext cx="8856983" cy="476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02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987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주차</a:t>
                      </a: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내용</a:t>
                      </a: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주차</a:t>
                      </a: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내용</a:t>
                      </a:r>
                    </a:p>
                  </a:txBody>
                  <a:tcPr marL="91459" marR="91459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8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1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dirty="0"/>
                        <a:t>03/05, 03/09</a:t>
                      </a:r>
                      <a:endParaRPr lang="ko-KR" alt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과목소개</a:t>
                      </a:r>
                      <a:r>
                        <a:rPr lang="en-US" altLang="ko-KR" sz="1800" dirty="0"/>
                        <a:t>, Ch1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9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dirty="0"/>
                        <a:t>04/30,</a:t>
                      </a:r>
                      <a:r>
                        <a:rPr lang="en-US" altLang="ko-KR" sz="1800" baseline="0" dirty="0"/>
                        <a:t> 05/04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Ch6, Ch6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8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2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dirty="0"/>
                        <a:t>03/12, 03/16</a:t>
                      </a:r>
                      <a:endParaRPr lang="ko-KR" alt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Ch1,</a:t>
                      </a:r>
                      <a:r>
                        <a:rPr lang="en-US" altLang="ko-KR" sz="1800" baseline="0" dirty="0"/>
                        <a:t> Ch1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10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dirty="0"/>
                        <a:t>05/07, 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05/11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Ch6, Ch6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8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3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03/19</a:t>
                      </a:r>
                      <a:r>
                        <a:rPr lang="en-US" altLang="ko-KR" sz="1800" dirty="0"/>
                        <a:t>,</a:t>
                      </a:r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</a:rPr>
                        <a:t>03/23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</a:rPr>
                        <a:t>Ch2</a:t>
                      </a:r>
                      <a:r>
                        <a:rPr lang="en-US" altLang="ko-KR" sz="1800" baseline="0" dirty="0"/>
                        <a:t>, Ch2 </a:t>
                      </a:r>
                      <a:endParaRPr lang="ko-KR" altLang="en-US" sz="1800" b="1" dirty="0">
                        <a:solidFill>
                          <a:srgbClr val="0000FF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11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05/14,</a:t>
                      </a:r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800" b="1" baseline="0" dirty="0">
                          <a:solidFill>
                            <a:srgbClr val="FF0000"/>
                          </a:solidFill>
                        </a:rPr>
                        <a:t>05/18</a:t>
                      </a:r>
                      <a:endParaRPr lang="ko-KR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/>
                        <a:t>Ch7, </a:t>
                      </a:r>
                      <a:r>
                        <a:rPr lang="ko-KR" altLang="en-US" sz="1800" b="1" baseline="0" dirty="0">
                          <a:solidFill>
                            <a:srgbClr val="FF0000"/>
                          </a:solidFill>
                        </a:rPr>
                        <a:t>시험</a:t>
                      </a:r>
                      <a:r>
                        <a:rPr lang="en-US" altLang="ko-KR" sz="1800" b="1" baseline="0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ko-KR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9" marR="91459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8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4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dirty="0"/>
                        <a:t>03/26,</a:t>
                      </a:r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</a:rPr>
                        <a:t>03/30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/>
                        <a:t>Ch2,</a:t>
                      </a:r>
                      <a:r>
                        <a:rPr lang="en-US" altLang="ko-KR" sz="1800" baseline="0" dirty="0"/>
                        <a:t> Ch3</a:t>
                      </a: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12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dirty="0"/>
                        <a:t>05/21,</a:t>
                      </a:r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b="1" baseline="0" dirty="0">
                          <a:solidFill>
                            <a:srgbClr val="0000FF"/>
                          </a:solidFill>
                        </a:rPr>
                        <a:t>05/25</a:t>
                      </a:r>
                      <a:endParaRPr lang="ko-KR" altLang="en-US" sz="1800" b="1" dirty="0">
                        <a:solidFill>
                          <a:srgbClr val="0000FF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Ch7, </a:t>
                      </a:r>
                      <a:r>
                        <a:rPr lang="en-US" altLang="ko-KR" sz="1800" b="1" baseline="0" dirty="0">
                          <a:solidFill>
                            <a:srgbClr val="0000FF"/>
                          </a:solidFill>
                        </a:rPr>
                        <a:t>Ch7 (</a:t>
                      </a:r>
                      <a:r>
                        <a:rPr lang="ko-KR" altLang="en-US" sz="1800" b="1" baseline="0" dirty="0">
                          <a:solidFill>
                            <a:srgbClr val="0000FF"/>
                          </a:solidFill>
                        </a:rPr>
                        <a:t>온라인</a:t>
                      </a:r>
                      <a:r>
                        <a:rPr lang="en-US" altLang="ko-KR" sz="1800" b="1" baseline="0" dirty="0">
                          <a:solidFill>
                            <a:srgbClr val="0000FF"/>
                          </a:solidFill>
                        </a:rPr>
                        <a:t>)</a:t>
                      </a:r>
                      <a:r>
                        <a:rPr lang="en-US" altLang="ko-KR" sz="1800" dirty="0"/>
                        <a:t> 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8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5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b="1" baseline="0" dirty="0">
                          <a:solidFill>
                            <a:srgbClr val="0000FF"/>
                          </a:solidFill>
                        </a:rPr>
                        <a:t>04/02</a:t>
                      </a:r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ko-KR" sz="1800" b="1" baseline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04/06</a:t>
                      </a:r>
                      <a:endParaRPr lang="ko-KR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 dirty="0">
                          <a:solidFill>
                            <a:srgbClr val="0000FF"/>
                          </a:solidFill>
                        </a:rPr>
                        <a:t>Ch3</a:t>
                      </a:r>
                      <a:r>
                        <a:rPr lang="en-US" altLang="ko-KR" sz="1800" baseline="0" dirty="0"/>
                        <a:t>, Ch3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13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dirty="0"/>
                        <a:t>05/28,</a:t>
                      </a:r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</a:rPr>
                        <a:t>06/01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Ch8, 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Ch8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8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6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04/09</a:t>
                      </a:r>
                      <a:r>
                        <a:rPr lang="en-US" altLang="ko-KR" sz="1800" dirty="0"/>
                        <a:t>,</a:t>
                      </a:r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b="1" baseline="0" dirty="0">
                          <a:solidFill>
                            <a:srgbClr val="FF0000"/>
                          </a:solidFill>
                        </a:rPr>
                        <a:t>04/13</a:t>
                      </a:r>
                      <a:endParaRPr lang="ko-KR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aseline="0" dirty="0"/>
                        <a:t>Ch3, </a:t>
                      </a:r>
                      <a:r>
                        <a:rPr lang="ko-KR" altLang="en-US" sz="1800" b="1" baseline="0" dirty="0">
                          <a:solidFill>
                            <a:srgbClr val="FF0000"/>
                          </a:solidFill>
                        </a:rPr>
                        <a:t>시험</a:t>
                      </a:r>
                      <a:r>
                        <a:rPr lang="en-US" altLang="ko-KR" sz="1800" b="1" baseline="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14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b="1" dirty="0">
                          <a:solidFill>
                            <a:srgbClr val="0000FF"/>
                          </a:solidFill>
                        </a:rPr>
                        <a:t>06/04</a:t>
                      </a:r>
                      <a:r>
                        <a:rPr lang="en-US" altLang="ko-KR" sz="1800" dirty="0"/>
                        <a:t>,</a:t>
                      </a:r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</a:rPr>
                        <a:t>06/08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baseline="0" dirty="0">
                          <a:solidFill>
                            <a:srgbClr val="0000FF"/>
                          </a:solidFill>
                        </a:rPr>
                        <a:t>Ch9 (</a:t>
                      </a:r>
                      <a:r>
                        <a:rPr lang="ko-KR" altLang="en-US" sz="1800" b="1" baseline="0" dirty="0">
                          <a:solidFill>
                            <a:srgbClr val="0000FF"/>
                          </a:solidFill>
                        </a:rPr>
                        <a:t>온라인</a:t>
                      </a:r>
                      <a:r>
                        <a:rPr lang="en-US" altLang="ko-KR" sz="1800" b="1" baseline="0" dirty="0">
                          <a:solidFill>
                            <a:srgbClr val="0000FF"/>
                          </a:solidFill>
                        </a:rPr>
                        <a:t>)</a:t>
                      </a:r>
                      <a:r>
                        <a:rPr lang="en-US" altLang="ko-KR" sz="1800" dirty="0"/>
                        <a:t> , Ch9</a:t>
                      </a:r>
                      <a:endParaRPr lang="en-US" altLang="ko-KR" sz="1800" baseline="0" dirty="0"/>
                    </a:p>
                  </a:txBody>
                  <a:tcPr marL="91459" marR="91459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98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7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dirty="0"/>
                        <a:t>04/16,</a:t>
                      </a:r>
                      <a:r>
                        <a:rPr lang="en-US" altLang="ko-KR" sz="1800" baseline="0" dirty="0"/>
                        <a:t> 04/20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Ch4,</a:t>
                      </a:r>
                      <a:r>
                        <a:rPr lang="en-US" altLang="ko-KR" sz="1800" baseline="0" dirty="0"/>
                        <a:t> Ch4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15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b="1" dirty="0">
                          <a:solidFill>
                            <a:srgbClr val="FF0000"/>
                          </a:solidFill>
                        </a:rPr>
                        <a:t>06/11</a:t>
                      </a:r>
                      <a:r>
                        <a:rPr lang="en-US" altLang="ko-KR" sz="1800" dirty="0"/>
                        <a:t>,</a:t>
                      </a:r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b="1" baseline="0" dirty="0">
                          <a:solidFill>
                            <a:srgbClr val="FF0000"/>
                          </a:solidFill>
                        </a:rPr>
                        <a:t>06/15</a:t>
                      </a:r>
                      <a:endParaRPr lang="ko-KR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1" dirty="0">
                          <a:solidFill>
                            <a:srgbClr val="FF0000"/>
                          </a:solidFill>
                        </a:rPr>
                        <a:t>시험</a:t>
                      </a:r>
                      <a:r>
                        <a:rPr lang="en-US" altLang="ko-KR" sz="1800" b="1" dirty="0">
                          <a:solidFill>
                            <a:srgbClr val="FF0000"/>
                          </a:solidFill>
                        </a:rPr>
                        <a:t>3, PCCP</a:t>
                      </a:r>
                      <a:r>
                        <a:rPr lang="ko-KR" altLang="en-US" sz="1800" b="1" dirty="0">
                          <a:solidFill>
                            <a:srgbClr val="FF0000"/>
                          </a:solidFill>
                        </a:rPr>
                        <a:t>응시</a:t>
                      </a:r>
                    </a:p>
                  </a:txBody>
                  <a:tcPr marL="91459" marR="91459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98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8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04/23</a:t>
                      </a:r>
                      <a:r>
                        <a:rPr lang="en-US" altLang="ko-KR" sz="1800" dirty="0"/>
                        <a:t>, </a:t>
                      </a:r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</a:rPr>
                        <a:t>04/27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Ch5, Ch5</a:t>
                      </a:r>
                      <a:endParaRPr lang="ko-KR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59" marR="91459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611560" y="6173272"/>
            <a:ext cx="43348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1"/>
            <a:r>
              <a:rPr lang="ko-KR" altLang="en-US" b="1" dirty="0">
                <a:solidFill>
                  <a:srgbClr val="0000FF"/>
                </a:solidFill>
              </a:rPr>
              <a:t>휴강</a:t>
            </a:r>
            <a:r>
              <a:rPr lang="en-US" altLang="ko-KR" b="1" dirty="0" smtClean="0">
                <a:solidFill>
                  <a:srgbClr val="0000FF"/>
                </a:solidFill>
              </a:rPr>
              <a:t>(4/2, 5/25</a:t>
            </a:r>
            <a:r>
              <a:rPr lang="en-US" altLang="ko-KR" b="1" dirty="0">
                <a:solidFill>
                  <a:srgbClr val="0000FF"/>
                </a:solidFill>
              </a:rPr>
              <a:t>, 6/4) </a:t>
            </a:r>
            <a:r>
              <a:rPr lang="ko-KR" altLang="en-US" b="1" dirty="0">
                <a:solidFill>
                  <a:srgbClr val="0000FF"/>
                </a:solidFill>
              </a:rPr>
              <a:t>보강은 온라인 수업</a:t>
            </a:r>
          </a:p>
        </p:txBody>
      </p:sp>
    </p:spTree>
    <p:extLst>
      <p:ext uri="{BB962C8B-B14F-4D97-AF65-F5344CB8AC3E}">
        <p14:creationId xmlns:p14="http://schemas.microsoft.com/office/powerpoint/2010/main" val="1883732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4B85-D71E-4156-F82A-7CEDE1648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번호 개체 틀 4">
            <a:extLst>
              <a:ext uri="{FF2B5EF4-FFF2-40B4-BE49-F238E27FC236}">
                <a16:creationId xmlns:a16="http://schemas.microsoft.com/office/drawing/2014/main" id="{4670719E-66EE-71DA-E1FC-3C380F9E0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3571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A58B39F7-D619-4B87-B75C-AB36FB1CA72B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6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B8C26CD8-3167-E97F-91BD-3CBC665BE7D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dirty="0"/>
              <a:t>02</a:t>
            </a:r>
            <a:r>
              <a:rPr lang="ko-KR" altLang="en-US" dirty="0"/>
              <a:t>분반 월수</a:t>
            </a:r>
            <a:r>
              <a:rPr lang="en-US" altLang="ko-KR" dirty="0"/>
              <a:t> </a:t>
            </a:r>
            <a:r>
              <a:rPr lang="ko-KR" altLang="en-US" dirty="0"/>
              <a:t>강의 계획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17695BD-1610-D918-9DD3-6828B135B3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016322"/>
              </p:ext>
            </p:extLst>
          </p:nvPr>
        </p:nvGraphicFramePr>
        <p:xfrm>
          <a:off x="179512" y="1143000"/>
          <a:ext cx="8856983" cy="476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02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987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주차</a:t>
                      </a: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내용</a:t>
                      </a: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주차</a:t>
                      </a: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내용</a:t>
                      </a:r>
                    </a:p>
                  </a:txBody>
                  <a:tcPr marL="91459" marR="91459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8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1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dirty="0"/>
                        <a:t>03/04, 03/09</a:t>
                      </a:r>
                      <a:endParaRPr lang="ko-KR" alt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과목소개</a:t>
                      </a:r>
                      <a:r>
                        <a:rPr lang="en-US" altLang="ko-KR" sz="1800" dirty="0"/>
                        <a:t>, Ch1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9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dirty="0"/>
                        <a:t>04/29,</a:t>
                      </a:r>
                      <a:r>
                        <a:rPr lang="en-US" altLang="ko-KR" sz="1800" baseline="0" dirty="0"/>
                        <a:t> 05/04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Ch6, Ch6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8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2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dirty="0"/>
                        <a:t>03/11, 03/16</a:t>
                      </a:r>
                      <a:endParaRPr lang="ko-KR" alt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Ch1,</a:t>
                      </a:r>
                      <a:r>
                        <a:rPr lang="en-US" altLang="ko-KR" sz="1800" baseline="0" dirty="0"/>
                        <a:t> Ch1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10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dirty="0"/>
                        <a:t>05/06, 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05/11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Ch6, Ch6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8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3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03/18</a:t>
                      </a:r>
                      <a:r>
                        <a:rPr lang="en-US" altLang="ko-KR" sz="1800" dirty="0"/>
                        <a:t>,</a:t>
                      </a:r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</a:rPr>
                        <a:t>03/23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</a:rPr>
                        <a:t>Ch2,</a:t>
                      </a:r>
                      <a:r>
                        <a:rPr lang="en-US" altLang="ko-KR" sz="1800" b="1" baseline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altLang="ko-KR" sz="1800" baseline="0" dirty="0"/>
                        <a:t>Ch2 </a:t>
                      </a:r>
                      <a:endParaRPr lang="ko-KR" altLang="en-US" sz="1800" b="1" dirty="0">
                        <a:solidFill>
                          <a:srgbClr val="0000FF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11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05/13,</a:t>
                      </a:r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800" b="1" baseline="0" dirty="0">
                          <a:solidFill>
                            <a:srgbClr val="FF0000"/>
                          </a:solidFill>
                        </a:rPr>
                        <a:t>05/18</a:t>
                      </a:r>
                      <a:endParaRPr lang="ko-KR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/>
                        <a:t>Ch7, </a:t>
                      </a:r>
                      <a:r>
                        <a:rPr lang="ko-KR" altLang="en-US" sz="1800" b="1" baseline="0" dirty="0">
                          <a:solidFill>
                            <a:srgbClr val="FF0000"/>
                          </a:solidFill>
                        </a:rPr>
                        <a:t>시험</a:t>
                      </a:r>
                      <a:r>
                        <a:rPr lang="en-US" altLang="ko-KR" sz="1800" b="1" baseline="0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ko-KR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9" marR="91459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8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4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dirty="0"/>
                        <a:t>03/25,</a:t>
                      </a:r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</a:rPr>
                        <a:t>03/30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/>
                        <a:t>Ch2,</a:t>
                      </a:r>
                      <a:r>
                        <a:rPr lang="en-US" altLang="ko-KR" sz="1800" baseline="0" dirty="0"/>
                        <a:t> Ch3</a:t>
                      </a: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12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dirty="0"/>
                        <a:t>05/20,</a:t>
                      </a:r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b="1" baseline="0" dirty="0">
                          <a:solidFill>
                            <a:srgbClr val="0000FF"/>
                          </a:solidFill>
                        </a:rPr>
                        <a:t>05/25</a:t>
                      </a:r>
                      <a:endParaRPr lang="ko-KR" altLang="en-US" sz="1800" b="1" dirty="0">
                        <a:solidFill>
                          <a:srgbClr val="0000FF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Ch7, </a:t>
                      </a:r>
                      <a:r>
                        <a:rPr lang="en-US" altLang="ko-KR" sz="1800" b="1" baseline="0" dirty="0">
                          <a:solidFill>
                            <a:srgbClr val="0000FF"/>
                          </a:solidFill>
                        </a:rPr>
                        <a:t>Ch7 (</a:t>
                      </a:r>
                      <a:r>
                        <a:rPr lang="ko-KR" altLang="en-US" sz="1800" b="1" baseline="0" dirty="0">
                          <a:solidFill>
                            <a:srgbClr val="0000FF"/>
                          </a:solidFill>
                        </a:rPr>
                        <a:t>온라인</a:t>
                      </a:r>
                      <a:r>
                        <a:rPr lang="en-US" altLang="ko-KR" sz="1800" b="1" baseline="0" dirty="0">
                          <a:solidFill>
                            <a:srgbClr val="0000FF"/>
                          </a:solidFill>
                        </a:rPr>
                        <a:t>)</a:t>
                      </a:r>
                      <a:r>
                        <a:rPr lang="en-US" altLang="ko-KR" sz="1800" dirty="0"/>
                        <a:t> 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8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5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b="1" baseline="0" dirty="0">
                          <a:solidFill>
                            <a:srgbClr val="0000FF"/>
                          </a:solidFill>
                        </a:rPr>
                        <a:t>04/01</a:t>
                      </a:r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ko-KR" sz="1800" b="1" baseline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04/06</a:t>
                      </a:r>
                      <a:endParaRPr lang="ko-KR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 dirty="0">
                          <a:solidFill>
                            <a:srgbClr val="0000FF"/>
                          </a:solidFill>
                        </a:rPr>
                        <a:t>Ch3</a:t>
                      </a:r>
                      <a:r>
                        <a:rPr lang="en-US" altLang="ko-KR" sz="1800" baseline="0" dirty="0"/>
                        <a:t>, Ch3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13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dirty="0"/>
                        <a:t>05/27,</a:t>
                      </a:r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</a:rPr>
                        <a:t>06/01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Ch8, 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Ch8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8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6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04/08</a:t>
                      </a:r>
                      <a:r>
                        <a:rPr lang="en-US" altLang="ko-KR" sz="1800" dirty="0"/>
                        <a:t>,</a:t>
                      </a:r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b="1" baseline="0" dirty="0">
                          <a:solidFill>
                            <a:srgbClr val="FF0000"/>
                          </a:solidFill>
                        </a:rPr>
                        <a:t>04/13</a:t>
                      </a:r>
                      <a:endParaRPr lang="ko-KR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aseline="0" dirty="0"/>
                        <a:t>Ch3, </a:t>
                      </a:r>
                      <a:r>
                        <a:rPr lang="ko-KR" altLang="en-US" sz="1800" b="1" baseline="0" dirty="0">
                          <a:solidFill>
                            <a:srgbClr val="FF0000"/>
                          </a:solidFill>
                        </a:rPr>
                        <a:t>시험</a:t>
                      </a:r>
                      <a:r>
                        <a:rPr lang="en-US" altLang="ko-KR" sz="1800" b="1" baseline="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14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b="1" dirty="0">
                          <a:solidFill>
                            <a:srgbClr val="0000FF"/>
                          </a:solidFill>
                        </a:rPr>
                        <a:t>06/03</a:t>
                      </a:r>
                      <a:r>
                        <a:rPr lang="en-US" altLang="ko-KR" sz="1800" dirty="0"/>
                        <a:t>,</a:t>
                      </a:r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</a:rPr>
                        <a:t>06/08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baseline="0" dirty="0">
                          <a:solidFill>
                            <a:srgbClr val="0000FF"/>
                          </a:solidFill>
                        </a:rPr>
                        <a:t>Ch9 (</a:t>
                      </a:r>
                      <a:r>
                        <a:rPr lang="ko-KR" altLang="en-US" sz="1800" b="1" baseline="0" dirty="0">
                          <a:solidFill>
                            <a:srgbClr val="0000FF"/>
                          </a:solidFill>
                        </a:rPr>
                        <a:t>온라인</a:t>
                      </a:r>
                      <a:r>
                        <a:rPr lang="en-US" altLang="ko-KR" sz="1800" b="1" baseline="0" dirty="0">
                          <a:solidFill>
                            <a:srgbClr val="0000FF"/>
                          </a:solidFill>
                        </a:rPr>
                        <a:t>)</a:t>
                      </a:r>
                      <a:r>
                        <a:rPr lang="en-US" altLang="ko-KR" sz="1800" dirty="0"/>
                        <a:t>, Ch9</a:t>
                      </a:r>
                      <a:endParaRPr lang="en-US" altLang="ko-KR" sz="1800" baseline="0" dirty="0"/>
                    </a:p>
                  </a:txBody>
                  <a:tcPr marL="91459" marR="91459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98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7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dirty="0"/>
                        <a:t>04/15,</a:t>
                      </a:r>
                      <a:r>
                        <a:rPr lang="en-US" altLang="ko-KR" sz="1800" baseline="0" dirty="0"/>
                        <a:t> 04/20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Ch4,</a:t>
                      </a:r>
                      <a:r>
                        <a:rPr lang="en-US" altLang="ko-KR" sz="1800" baseline="0" dirty="0"/>
                        <a:t> Ch4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15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b="1" dirty="0">
                          <a:solidFill>
                            <a:srgbClr val="FF0000"/>
                          </a:solidFill>
                        </a:rPr>
                        <a:t>06/10</a:t>
                      </a:r>
                      <a:r>
                        <a:rPr lang="en-US" altLang="ko-KR" sz="1800" dirty="0"/>
                        <a:t>,</a:t>
                      </a:r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b="1" baseline="0" dirty="0">
                          <a:solidFill>
                            <a:srgbClr val="FF0000"/>
                          </a:solidFill>
                        </a:rPr>
                        <a:t>06/15</a:t>
                      </a:r>
                      <a:endParaRPr lang="ko-KR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1" dirty="0">
                          <a:solidFill>
                            <a:srgbClr val="FF0000"/>
                          </a:solidFill>
                        </a:rPr>
                        <a:t>시험</a:t>
                      </a:r>
                      <a:r>
                        <a:rPr lang="en-US" altLang="ko-KR" sz="1800" b="1" dirty="0">
                          <a:solidFill>
                            <a:srgbClr val="FF0000"/>
                          </a:solidFill>
                        </a:rPr>
                        <a:t>3, PCCP</a:t>
                      </a:r>
                      <a:r>
                        <a:rPr lang="ko-KR" altLang="en-US" sz="1800" b="1" dirty="0">
                          <a:solidFill>
                            <a:srgbClr val="FF0000"/>
                          </a:solidFill>
                        </a:rPr>
                        <a:t>응시</a:t>
                      </a:r>
                    </a:p>
                  </a:txBody>
                  <a:tcPr marL="91459" marR="91459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98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8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04/22</a:t>
                      </a:r>
                      <a:r>
                        <a:rPr lang="en-US" altLang="ko-KR" sz="1800" dirty="0"/>
                        <a:t>, </a:t>
                      </a:r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</a:rPr>
                        <a:t>04/27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Ch5, Ch5</a:t>
                      </a:r>
                      <a:endParaRPr lang="ko-KR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59" marR="91459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C0DD0C1B-72E3-A1EB-6A9A-83A14DDC522F}"/>
              </a:ext>
            </a:extLst>
          </p:cNvPr>
          <p:cNvSpPr/>
          <p:nvPr/>
        </p:nvSpPr>
        <p:spPr>
          <a:xfrm>
            <a:off x="611560" y="6173272"/>
            <a:ext cx="43348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1"/>
            <a:r>
              <a:rPr lang="ko-KR" altLang="en-US" b="1" dirty="0">
                <a:solidFill>
                  <a:srgbClr val="0000FF"/>
                </a:solidFill>
              </a:rPr>
              <a:t>휴강</a:t>
            </a:r>
            <a:r>
              <a:rPr lang="en-US" altLang="ko-KR" b="1" dirty="0" smtClean="0">
                <a:solidFill>
                  <a:srgbClr val="0000FF"/>
                </a:solidFill>
              </a:rPr>
              <a:t>(4/1, 5/25</a:t>
            </a:r>
            <a:r>
              <a:rPr lang="en-US" altLang="ko-KR" b="1" dirty="0">
                <a:solidFill>
                  <a:srgbClr val="0000FF"/>
                </a:solidFill>
              </a:rPr>
              <a:t>, 6/3) </a:t>
            </a:r>
            <a:r>
              <a:rPr lang="ko-KR" altLang="en-US" b="1" dirty="0">
                <a:solidFill>
                  <a:srgbClr val="0000FF"/>
                </a:solidFill>
              </a:rPr>
              <a:t>보강은 온라인 수업</a:t>
            </a:r>
          </a:p>
        </p:txBody>
      </p:sp>
    </p:spTree>
    <p:extLst>
      <p:ext uri="{BB962C8B-B14F-4D97-AF65-F5344CB8AC3E}">
        <p14:creationId xmlns:p14="http://schemas.microsoft.com/office/powerpoint/2010/main" val="663257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풍요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2072</TotalTime>
  <Words>541</Words>
  <Application>Microsoft Office PowerPoint</Application>
  <PresentationFormat>화면 슬라이드 쇼(4:3)</PresentationFormat>
  <Paragraphs>122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-apple-system</vt:lpstr>
      <vt:lpstr>Helvetica Neue</vt:lpstr>
      <vt:lpstr>굴림</vt:lpstr>
      <vt:lpstr>맑은 고딕</vt:lpstr>
      <vt:lpstr>Arial</vt:lpstr>
      <vt:lpstr>Office 테마</vt:lpstr>
      <vt:lpstr>2026-1 문제해결 프로그래밍</vt:lpstr>
      <vt:lpstr>강좌 정보</vt:lpstr>
      <vt:lpstr>강좌 정보</vt:lpstr>
      <vt:lpstr>이코테 목차 및 유튜브 강의</vt:lpstr>
      <vt:lpstr>01분반 월목 강의 계획</vt:lpstr>
      <vt:lpstr>02분반 월수 강의 계획</vt:lpstr>
    </vt:vector>
  </TitlesOfParts>
  <Company>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STL</dc:title>
  <dc:creator>kys</dc:creator>
  <cp:lastModifiedBy>RYZEN5 3600</cp:lastModifiedBy>
  <cp:revision>126</cp:revision>
  <dcterms:created xsi:type="dcterms:W3CDTF">2008-03-02T04:39:19Z</dcterms:created>
  <dcterms:modified xsi:type="dcterms:W3CDTF">2026-03-19T07:20:15Z</dcterms:modified>
</cp:coreProperties>
</file>